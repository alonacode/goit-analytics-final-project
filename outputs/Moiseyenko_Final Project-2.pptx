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46120"/>
            <a:ext cx="3657600" cy="73152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15544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Трекінг-план A/B-тесту онлайн-реклами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D6E0F2"/>
                </a:solidFill>
                <a:latin typeface="Calibri"/>
              </a:defRPr>
            </a:pPr>
            <a:r>
              <a:t>Події, атрибути та метрики порівняння Control vs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FB2D4"/>
                </a:solidFill>
                <a:latin typeface="Calibri"/>
              </a:defRPr>
            </a:pPr>
            <a:r>
              <a:t>Final Project — Завдання №2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Шлях користувача: події воронки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Pentagon 5"/>
          <p:cNvSpPr/>
          <p:nvPr/>
        </p:nvSpPr>
        <p:spPr>
          <a:xfrm>
            <a:off x="457200" y="2377440"/>
            <a:ext cx="1515618" cy="1097280"/>
          </a:xfrm>
          <a:prstGeom prst="homePlat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ad_</a:t>
            </a:r>
            <a:br/>
            <a:r>
              <a:t>impression</a:t>
            </a:r>
          </a:p>
        </p:txBody>
      </p:sp>
      <p:sp>
        <p:nvSpPr>
          <p:cNvPr id="8" name="Chevron 7"/>
          <p:cNvSpPr/>
          <p:nvPr/>
        </p:nvSpPr>
        <p:spPr>
          <a:xfrm>
            <a:off x="186309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056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ad_</a:t>
            </a:r>
            <a:br/>
            <a:r>
              <a:t>click</a:t>
            </a:r>
          </a:p>
        </p:txBody>
      </p:sp>
      <p:sp>
        <p:nvSpPr>
          <p:cNvPr id="10" name="Chevron 9"/>
          <p:cNvSpPr/>
          <p:nvPr/>
        </p:nvSpPr>
        <p:spPr>
          <a:xfrm>
            <a:off x="326898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645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session_</a:t>
            </a:r>
            <a:br/>
            <a:r>
              <a:t>start</a:t>
            </a:r>
          </a:p>
        </p:txBody>
      </p:sp>
      <p:sp>
        <p:nvSpPr>
          <p:cNvPr id="12" name="Chevron 11"/>
          <p:cNvSpPr/>
          <p:nvPr/>
        </p:nvSpPr>
        <p:spPr>
          <a:xfrm>
            <a:off x="467487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234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site_</a:t>
            </a:r>
            <a:br/>
            <a:r>
              <a:t>search</a:t>
            </a:r>
          </a:p>
        </p:txBody>
      </p:sp>
      <p:sp>
        <p:nvSpPr>
          <p:cNvPr id="14" name="Chevron 13"/>
          <p:cNvSpPr/>
          <p:nvPr/>
        </p:nvSpPr>
        <p:spPr>
          <a:xfrm>
            <a:off x="608076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view_</a:t>
            </a:r>
            <a:br/>
            <a:r>
              <a:t>content</a:t>
            </a:r>
          </a:p>
        </p:txBody>
      </p:sp>
      <p:sp>
        <p:nvSpPr>
          <p:cNvPr id="16" name="Chevron 15"/>
          <p:cNvSpPr/>
          <p:nvPr/>
        </p:nvSpPr>
        <p:spPr>
          <a:xfrm>
            <a:off x="748665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412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add_</a:t>
            </a:r>
            <a:br/>
            <a:r>
              <a:t>to_cart</a:t>
            </a:r>
          </a:p>
        </p:txBody>
      </p:sp>
      <p:sp>
        <p:nvSpPr>
          <p:cNvPr id="18" name="Chevron 17"/>
          <p:cNvSpPr/>
          <p:nvPr/>
        </p:nvSpPr>
        <p:spPr>
          <a:xfrm>
            <a:off x="8892540" y="2377440"/>
            <a:ext cx="1515618" cy="1097280"/>
          </a:xfrm>
          <a:prstGeom prst="chevron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001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begin_</a:t>
            </a:r>
            <a:br/>
            <a:r>
              <a:t>checkout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98430" y="2377440"/>
            <a:ext cx="1515618" cy="1097280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45902" y="2377440"/>
            <a:ext cx="99441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F3864"/>
                </a:solidFill>
                <a:latin typeface="Calibri"/>
              </a:defRPr>
            </a:pPr>
            <a:r>
              <a:t>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Calibri"/>
              </a:defRPr>
            </a:pPr>
            <a:r>
              <a:t>Кожна подія несе ab_group, user_id і session_id — це дозволяє порівнювати Control і Test на кожному кроці та по кожному користувачу.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3657600" cy="14630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365760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Calibri"/>
              </a:defRPr>
            </a:pPr>
            <a:r>
              <a:t>Верх воронки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alibri"/>
              </a:defRPr>
            </a:pPr>
            <a:r>
              <a:t>ad_impression → ad_click: охват, CTR, вартість кліку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572000"/>
            <a:ext cx="3657600" cy="14630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4572000"/>
            <a:ext cx="365760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7091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Calibri"/>
              </a:defRPr>
            </a:pPr>
            <a:r>
              <a:t>Середина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12064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alibri"/>
              </a:defRPr>
            </a:pPr>
            <a:r>
              <a:t>session_start → view_content: якість трафіку та інтерес до продукту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572000"/>
            <a:ext cx="3657600" cy="14630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572000"/>
            <a:ext cx="365760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Calibri"/>
              </a:defRPr>
            </a:pPr>
            <a:r>
              <a:t>Низ воронки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12064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alibri"/>
              </a:defRPr>
            </a:pPr>
            <a:r>
              <a:t>add_to_cart → purchase: намір і конверсія в оплату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Мета та принципи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Відстежувати поведінку кожного користувача по всій воронці: покази → клік → сайт → пошук → перегляд → кошик → покупка.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41448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Кожна подія містить ab_group, щоб порівнювати групи на рівні подій і користувачів, а не лише денних агрегатів.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11296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11296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Один user_id/anonymous_id і session_id наскрізно від кліку на рекламі до покупки.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81144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81144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81144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Єдина схема назв (snake_case) та обов'язкових атрибутів; валідація на dev перед запуском.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Спільні атрибути (для кожної події)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69009"/>
                <a:gridCol w="2159447"/>
                <a:gridCol w="5218663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Атрибут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 / навіщо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event_name, event_timestamp (UTC)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string, datetime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Що і коли сталося; побудова послідовностей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user_id / anonymous_id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Ідентифікація користувача; рахунок унікальних користувачів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session_id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Групування подій у сесію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ab_group (control / test), experiment_id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Ключ порівняння груп; перевірка SRM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campaign_id, ad_id, utm_source / medium / campaign / content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Атрибуція витрат та креативів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device_type, os, browser, country, language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Сегментація, перевірка балансу груп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page_url, referrer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Контекст сторінки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Події воронки та специфічні атрибути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8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99308"/>
                <a:gridCol w="3149193"/>
                <a:gridCol w="5398617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Подія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Тригер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Специфічні атрибути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ad_impression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Показ оголошення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placement, creative_id, bid/cost, viewable (bool)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ad_click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Клік по оголошенню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placement, creative_id, click_cost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session_start / landing_view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Відкриття сайту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landing_page, load_time_ms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site_search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Пошук на сайті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search_query, results_count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view_content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Перегляд сторінки продукту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product_id, category, price, currency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add_to_cart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Додано в кошик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product_id, quantity, price, cart_value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begin_checkout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Початок оформлення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cart_value, items_count, coupon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purchase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Успішна оплата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order_id, revenue, currency, items, payment_method, is_new_customer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Порівняння Control vs Test по кроках воронки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7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9354"/>
                <a:gridCol w="2339400"/>
                <a:gridCol w="3329147"/>
                <a:gridCol w="3059216"/>
              </a:tblGrid>
              <a:tr h="5669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Крок воронки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Метрика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Що показує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Формула</a:t>
                      </a:r>
                    </a:p>
                  </a:txBody>
                  <a:tcPr anchor="ctr" marL="91440" marR="91440"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Impression → Click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CTR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Наскільки реклама чіпляє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clicks / impressions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Click → Search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Search Rate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Частка відвідувачів, що шукають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searches / clicks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Search → View Content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View Rate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Чи доходять до товару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view_content / searches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View → Add to Cart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Add-to-Cart Rate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Інтерес до продукту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add_to_cart / view_content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 → Purchase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 Conversion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Якість чекауту й ціни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purchase / add_to_cart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Click → Purchase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Purchase CVR (основна)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Підсумкова ефективність трафіку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purchase / clicks</a:t>
                      </a:r>
                    </a:p>
                  </a:txBody>
                  <a:tcPr anchor="ctr" marL="91440" marR="91440"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Вся воронка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Вартість покупки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spend / purchase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Метрики порівняння груп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Рівень користувача: унікальні користувачі на кожному кроці, конверсія між кроками (user-level), конверсія клік→покупка.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Вартість: CPM, CPC, CPA = Spend / Purchase, ROAS = revenue / spend, AOV.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Час: time_to_purchase (від ad_click до purchase), кількість сесій до покупки.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Утримання/якість: повторні покупки за 7/30 днів, відмови (bounce), повернення в кошик.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Статистика: z-тест для пропорцій, t-тест/Манна-Уїтні для середніх, ДІ різниці, bootstrap по користувачах.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Якість даних та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Перевірка SRM: співвідношення users у групах 50/50 (chi-square).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Щоденні дашборд-алерти на пропуски: подія/метрика без значень (як 5.08 у контролі без метрик воронки).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Воронка не має «стрибків»: purchase ≤ add_to_cart ≤ view_content за користувачами; дедуплікація подій по event_id.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Збіг трекінгу з рекламним кабінетом: Spend, Impressions, Clicks (допустиме розходження &lt;5%).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47120" cy="896112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91440" cy="89611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88136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Однакові правила для обох груп; не міняти розмітку під час тесту; фіксація версій трекінгу.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Що аналізуємо з цього треку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7F8FA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Де саме групи розходяться: наприклад, у тесті нижча конверсія перегляд→кошик і вища кошик→покупка — трекінг на рівні користувачів дозволить зрозуміти чому (device, джерело, продукт, ціна).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41448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41448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Сегменти, у яких новий підхід працює краще/гірше (device, country, new/returning).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11296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11296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Чи змінюється склад аудиторії у групах (охват/покази різко відрізнялись).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81144"/>
            <a:ext cx="112471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81144"/>
            <a:ext cx="91440" cy="9601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81144"/>
            <a:ext cx="10881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Calibri"/>
              </a:defRPr>
            </a:pPr>
            <a:r>
              <a:t>Дашборди: воронка по групах, CPA/ROAS по днях, SRM, якість даних.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